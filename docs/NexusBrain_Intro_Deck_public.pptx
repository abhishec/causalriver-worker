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33"/>
    <p:restoredTop sz="94633"/>
  </p:normalViewPr>
  <p:slideViewPr>
    <p:cSldViewPr snapToGrid="0" snapToObjects="1">
      <p:cViewPr varScale="1">
        <p:scale>
          <a:sx n="88" d="100"/>
          <a:sy n="88" d="100"/>
        </p:scale>
        <p:origin x="176" y="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09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230368" y="438912"/>
            <a:ext cx="457200" cy="457200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30368" y="4023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5120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NexusBrain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097280"/>
            <a:ext cx="1149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Courier New"/>
              </a:rPr>
              <a:t>CONFIDENTIAL  ·  TECHNICAL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481328"/>
            <a:ext cx="114940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The Operating System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011680"/>
            <a:ext cx="114940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366F1"/>
                </a:solidFill>
                <a:latin typeface="Calibri"/>
              </a:rPr>
              <a:t>Organisational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88920"/>
            <a:ext cx="9235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B0BACC"/>
                </a:solidFill>
                <a:latin typeface="Calibri"/>
              </a:rPr>
              <a:t>A 30-layer, self-learning brain that sits at the centre of every business workflow —
orchestrating services, learning from every outcome, and compounding knowledge over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3767328"/>
            <a:ext cx="2606040" cy="347472"/>
          </a:xfrm>
          <a:prstGeom prst="roundRect">
            <a:avLst>
              <a:gd name="adj" fmla="val 4000"/>
            </a:avLst>
          </a:prstGeom>
          <a:solidFill>
            <a:srgbClr val="10122E"/>
          </a:solidFill>
          <a:ln w="762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" y="380390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5B4FC"/>
                </a:solidFill>
                <a:latin typeface="Calibri"/>
              </a:rPr>
              <a:t>🧬  30-Layer Neural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5284" y="3767328"/>
            <a:ext cx="2606040" cy="347472"/>
          </a:xfrm>
          <a:prstGeom prst="roundRect">
            <a:avLst>
              <a:gd name="adj" fmla="val 4000"/>
            </a:avLst>
          </a:prstGeom>
          <a:solidFill>
            <a:srgbClr val="061622"/>
          </a:solidFill>
          <a:ln w="76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6724" y="380390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7E8F9"/>
                </a:solidFill>
                <a:latin typeface="Calibri"/>
              </a:rPr>
              <a:t>⚡  Federated Causal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7628" y="3767328"/>
            <a:ext cx="2606040" cy="347472"/>
          </a:xfrm>
          <a:prstGeom prst="roundRect">
            <a:avLst>
              <a:gd name="adj" fmla="val 4000"/>
            </a:avLst>
          </a:prstGeom>
          <a:solidFill>
            <a:srgbClr val="06181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9068" y="380390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EE7B7"/>
                </a:solidFill>
                <a:latin typeface="Calibri"/>
              </a:rPr>
              <a:t>🔁  6 Autonomous RL Loops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9972" y="3767328"/>
            <a:ext cx="2606040" cy="347472"/>
          </a:xfrm>
          <a:prstGeom prst="roundRect">
            <a:avLst>
              <a:gd name="adj" fmla="val 4000"/>
            </a:avLst>
          </a:prstGeom>
          <a:solidFill>
            <a:srgbClr val="221804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11412" y="3803904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CD34D"/>
                </a:solidFill>
                <a:latin typeface="Calibri"/>
              </a:rPr>
              <a:t>🛒  Service Marketplace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15968"/>
            <a:ext cx="11494008" cy="9144"/>
          </a:xfrm>
          <a:prstGeom prst="rect">
            <a:avLst/>
          </a:prstGeom>
          <a:solidFill>
            <a:srgbClr val="18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A5B4FC"/>
                </a:solidFill>
                <a:latin typeface="Calibri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ourier New"/>
              </a:rPr>
              <a:t>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0974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7E8F9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0974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ourier New"/>
              </a:rPr>
              <a:t>RL Loops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4476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EE7B7"/>
                </a:solidFill>
                <a:latin typeface="Calibri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ourier New"/>
              </a:rPr>
              <a:t>Action Domains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7978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CD34D"/>
                </a:solidFill>
                <a:latin typeface="Calibri"/>
              </a:rPr>
              <a:t>9+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7978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ourier New"/>
              </a:rPr>
              <a:t>Connectors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01  ·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Businesses have data everywhere.
But no system understands why things happen.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755648"/>
            <a:ext cx="3621024" cy="3182112"/>
          </a:xfrm>
          <a:prstGeom prst="roundRect">
            <a:avLst>
              <a:gd name="adj" fmla="val 2500"/>
            </a:avLst>
          </a:prstGeom>
          <a:solidFill>
            <a:srgbClr val="1E0A0A"/>
          </a:solidFill>
          <a:ln w="1016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755648"/>
            <a:ext cx="3621024" cy="54864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4505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  <a:latin typeface="Calibri"/>
              </a:rPr>
              <a:t>Data, but no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2834640"/>
            <a:ext cx="3383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  <a:latin typeface="Calibri"/>
              </a:rPr>
              <a:t>Teams drown in dashboards yet can't answer:
Why did churn spike? Why did that sprint fail?
Correlation fills the screen. Causation is invisible.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9372" y="1755648"/>
            <a:ext cx="3621024" cy="3182112"/>
          </a:xfrm>
          <a:prstGeom prst="roundRect">
            <a:avLst>
              <a:gd name="adj" fmla="val 2500"/>
            </a:avLst>
          </a:prstGeom>
          <a:solidFill>
            <a:srgbClr val="201604"/>
          </a:solidFill>
          <a:ln w="1016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9372" y="1755648"/>
            <a:ext cx="3621024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5676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5676" y="24505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D34D"/>
                </a:solidFill>
                <a:latin typeface="Calibri"/>
              </a:rPr>
              <a:t>Siloed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6" y="2834640"/>
            <a:ext cx="3383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  <a:latin typeface="Calibri"/>
              </a:rPr>
              <a:t>Copilot writes code. Xero tracks money.
HubSpot logs deals. Linear plans sprints.
Each tool knows nothing about the others.
No cross-domain learning. Ever.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91272" y="1755648"/>
            <a:ext cx="3621024" cy="3182112"/>
          </a:xfrm>
          <a:prstGeom prst="roundRect">
            <a:avLst>
              <a:gd name="adj" fmla="val 2500"/>
            </a:avLst>
          </a:prstGeom>
          <a:solidFill>
            <a:srgbClr val="0E1028"/>
          </a:solidFill>
          <a:ln w="1016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91272" y="1755648"/>
            <a:ext cx="3621024" cy="54864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37576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24505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  <a:latin typeface="Calibri"/>
              </a:rPr>
              <a:t>AI that resets every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7576" y="2834640"/>
            <a:ext cx="3383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  <a:latin typeface="Calibri"/>
              </a:rPr>
              <a:t>Every LLM query starts from zero.
No memory of past outcomes.
No organisation-specific context.
No feedback loop. No compound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5120640"/>
            <a:ext cx="11494008" cy="713232"/>
          </a:xfrm>
          <a:prstGeom prst="roundRect">
            <a:avLst>
              <a:gd name="adj" fmla="val 2000"/>
            </a:avLst>
          </a:prstGeom>
          <a:solidFill>
            <a:srgbClr val="0E112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5230368"/>
            <a:ext cx="112196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💡  The Gap  —  No system learns causal relationships across the full business stack, remembers them, and gets smarter over time — autonomously.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0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3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  ·  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brain is light at the centre, heavy at the edges.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6400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874519"/>
            <a:ext cx="6858000" cy="1051560"/>
          </a:xfrm>
          <a:prstGeom prst="rect">
            <a:avLst/>
          </a:prstGeom>
          <a:solidFill>
            <a:srgbClr val="101230"/>
          </a:solidFill>
          <a:ln w="1016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13055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5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Brain  (Orchestration Layer)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19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Lightweight central node · causal knowledge graph · intelligent routing · continuous self-learning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08959"/>
            <a:ext cx="6858000" cy="1051560"/>
          </a:xfrm>
          <a:prstGeom prst="rect">
            <a:avLst/>
          </a:prstGeom>
          <a:solidFill>
            <a:srgbClr val="051C28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3649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39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Services  (Execution Layer)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66159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Heavy-lift domain specialists · SE-AAS · AAAS · HR-AAS · each plugs into the marketplace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43399"/>
            <a:ext cx="6858000" cy="1051560"/>
          </a:xfrm>
          <a:prstGeom prst="rect">
            <a:avLst/>
          </a:prstGeom>
          <a:solidFill>
            <a:srgbClr val="062018"/>
          </a:solidFill>
          <a:ln w="1016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45994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39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execution feeds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00599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Signals → causal DAG evolution → RL loops → smarter next query —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371600"/>
            <a:ext cx="4160520" cy="3410711"/>
          </a:xfrm>
          <a:prstGeom prst="rect">
            <a:avLst/>
          </a:prstGeom>
          <a:solidFill>
            <a:srgbClr val="080B1E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0" y="141732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ourier New"/>
                <a:ea typeface="+mn-ea"/>
                <a:cs typeface="+mn-cs"/>
              </a:rPr>
              <a:t>Service Marketplace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920240"/>
            <a:ext cx="1261872" cy="1188720"/>
          </a:xfrm>
          <a:prstGeom prst="rect">
            <a:avLst/>
          </a:prstGeom>
          <a:solidFill>
            <a:srgbClr val="0D1024"/>
          </a:solidFill>
          <a:ln w="889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38160" y="19659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8716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366F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614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Orchestration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920240"/>
            <a:ext cx="1261872" cy="1188720"/>
          </a:xfrm>
          <a:prstGeom prst="rect">
            <a:avLst/>
          </a:prstGeom>
          <a:solidFill>
            <a:srgbClr val="0D1024"/>
          </a:solidFill>
          <a:ln w="889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09760" y="19659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48716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A5B4F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SE-AAS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614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Engineering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1920240"/>
            <a:ext cx="1261872" cy="1188720"/>
          </a:xfrm>
          <a:prstGeom prst="rect">
            <a:avLst/>
          </a:prstGeom>
          <a:solidFill>
            <a:srgbClr val="0D1024"/>
          </a:solidFill>
          <a:ln w="889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881360" y="196596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248716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EE7B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27614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Accounting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337560"/>
            <a:ext cx="1261872" cy="1188720"/>
          </a:xfrm>
          <a:prstGeom prst="rect">
            <a:avLst/>
          </a:prstGeom>
          <a:solidFill>
            <a:srgbClr val="0D1024"/>
          </a:solidFill>
          <a:ln w="889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38160" y="33832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9044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67E8F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HR-AAS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17880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People 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337560"/>
            <a:ext cx="1261872" cy="1188720"/>
          </a:xfrm>
          <a:prstGeom prst="rect">
            <a:avLst/>
          </a:prstGeom>
          <a:solidFill>
            <a:srgbClr val="0D1024"/>
          </a:solidFill>
          <a:ln w="889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09760" y="33832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9044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Sales-AAS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7880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Revenue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3337560"/>
            <a:ext cx="1261872" cy="1188720"/>
          </a:xfrm>
          <a:prstGeom prst="rect">
            <a:avLst/>
          </a:prstGeom>
          <a:solidFill>
            <a:srgbClr val="0D1024"/>
          </a:solidFill>
          <a:ln w="889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81360" y="33832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20" y="390448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C4B5F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3rd Party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4178808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6217920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1" u="none" strike="noStrike" kern="1200" cap="none" spc="0" normalizeH="0" baseline="0" noProof="0">
                <a:ln>
                  <a:noFill/>
                </a:ln>
                <a:solidFill>
                  <a:srgbClr val="B0B8C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service feeds signals back to the brain →
causal DAG evolves → smarter next time</a:t>
            </a:r>
          </a:p>
        </p:txBody>
      </p:sp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1E5EE-F5ED-7443-9628-3BF933F0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906" y="1221993"/>
            <a:ext cx="4452252" cy="48808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SG" sz="1600" b="1" dirty="0">
                <a:solidFill>
                  <a:srgbClr val="A5B4FC"/>
                </a:solidFill>
                <a:latin typeface="Courier New"/>
              </a:rPr>
              <a:t>4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30 Layers. Modelled on the Human Neocortex.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810512"/>
            <a:ext cx="5655564" cy="896112"/>
          </a:xfrm>
          <a:prstGeom prst="roundRect">
            <a:avLst>
              <a:gd name="adj" fmla="val 2000"/>
            </a:avLst>
          </a:prstGeom>
          <a:solidFill>
            <a:srgbClr val="0C0E28"/>
          </a:solidFill>
          <a:ln w="889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810512"/>
            <a:ext cx="54864" cy="896112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865376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5B4FC"/>
                </a:solidFill>
                <a:latin typeface="Courier New"/>
              </a:rPr>
              <a:t>L1–L3  ·  Ingestion &amp;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57984"/>
            <a:ext cx="54543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Multi-modal connectors · Entity resolution · Semantic embeddings · Dedup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5916" y="1810512"/>
            <a:ext cx="5655564" cy="896112"/>
          </a:xfrm>
          <a:prstGeom prst="roundRect">
            <a:avLst>
              <a:gd name="adj" fmla="val 2000"/>
            </a:avLst>
          </a:prstGeom>
          <a:solidFill>
            <a:srgbClr val="140C28"/>
          </a:solidFill>
          <a:ln w="889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5916" y="1810512"/>
            <a:ext cx="54864" cy="896112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3932" y="1865376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  <a:latin typeface="Courier New"/>
              </a:rPr>
              <a:t>L4–L5  ·  Causal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3932" y="2157984"/>
            <a:ext cx="54543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Signal collector · Causal graph engine · UCB1 bandit · Granger, VAR, DID, DO-calculus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798064"/>
            <a:ext cx="5655564" cy="896112"/>
          </a:xfrm>
          <a:prstGeom prst="roundRect">
            <a:avLst>
              <a:gd name="adj" fmla="val 2000"/>
            </a:avLst>
          </a:prstGeom>
          <a:solidFill>
            <a:srgbClr val="051424"/>
          </a:solidFill>
          <a:ln w="889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" y="2798064"/>
            <a:ext cx="54864" cy="896112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52928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7E8F9"/>
                </a:solidFill>
                <a:latin typeface="Courier New"/>
              </a:rPr>
              <a:t>L6–L8  ·  Domain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145536"/>
            <a:ext cx="54543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28 action domains · Multi-hop reasoning · Counterfactual simulator · Temporal forecaster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5916" y="2798064"/>
            <a:ext cx="5655564" cy="896112"/>
          </a:xfrm>
          <a:prstGeom prst="roundRect">
            <a:avLst>
              <a:gd name="adj" fmla="val 2000"/>
            </a:avLst>
          </a:prstGeom>
          <a:solidFill>
            <a:srgbClr val="051812"/>
          </a:solidFill>
          <a:ln w="889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85916" y="2798064"/>
            <a:ext cx="54864" cy="896112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3932" y="2852928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EE7B7"/>
                </a:solidFill>
                <a:latin typeface="Courier New"/>
              </a:rPr>
              <a:t>L9–L15  ·  Learning 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932" y="3145536"/>
            <a:ext cx="54543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6 closed RL feedback loops · Credit assignment · Brain sleep consolidation · Outcome oracle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785616"/>
            <a:ext cx="5655564" cy="896112"/>
          </a:xfrm>
          <a:prstGeom prst="roundRect">
            <a:avLst>
              <a:gd name="adj" fmla="val 2000"/>
            </a:avLst>
          </a:prstGeom>
          <a:solidFill>
            <a:srgbClr val="201604"/>
          </a:solidFill>
          <a:ln w="889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7472" y="3785616"/>
            <a:ext cx="54864" cy="896112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840480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CD34D"/>
                </a:solidFill>
                <a:latin typeface="Courier New"/>
              </a:rPr>
              <a:t>L16–L20  ·  Reasoning &amp;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133088"/>
            <a:ext cx="54543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Entity graph persistence · Cross-system linking · Context-aware reasoner · Brain health monitor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5916" y="3785616"/>
            <a:ext cx="5655564" cy="896112"/>
          </a:xfrm>
          <a:prstGeom prst="roundRect">
            <a:avLst>
              <a:gd name="adj" fmla="val 2000"/>
            </a:avLst>
          </a:prstGeom>
          <a:solidFill>
            <a:srgbClr val="220C0C"/>
          </a:solidFill>
          <a:ln w="889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85916" y="3785616"/>
            <a:ext cx="54864" cy="896112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13932" y="3840480"/>
            <a:ext cx="54543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CA5A5"/>
                </a:solidFill>
                <a:latin typeface="Courier New"/>
              </a:rPr>
              <a:t>L21–L25  ·  Execution &amp;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3932" y="4133088"/>
            <a:ext cx="54543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Domain action engine · Motor commands · Brain commander · Dispatch assessor · Agent registry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4773168"/>
            <a:ext cx="11494008" cy="8961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889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4773168"/>
            <a:ext cx="54864" cy="89611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828032"/>
            <a:ext cx="1129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4748B"/>
                </a:solidFill>
                <a:latin typeface="Courier New"/>
              </a:rPr>
              <a:t>L26–L30  ·  Observability &amp;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120640"/>
            <a:ext cx="112928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Brain state · Metrics · Connector bridge · Fast-path compiler (&lt;100ms) · Multi-model routing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925312"/>
            <a:ext cx="11494008" cy="457200"/>
          </a:xfrm>
          <a:prstGeom prst="roundRect">
            <a:avLst>
              <a:gd name="adj" fmla="val 1500"/>
            </a:avLst>
          </a:prstGeom>
          <a:solidFill>
            <a:srgbClr val="0E1128"/>
          </a:solidFill>
          <a:ln w="1143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" y="6007608"/>
            <a:ext cx="11237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  <a:latin typeface="Calibri"/>
              </a:rPr>
              <a:t>🏆  Every query strengthens the causal DAG  ·  Every org improves the CORE brain  ·  The product gets smarter without anyone touching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US" sz="1600" b="1" i="0" dirty="0">
                <a:solidFill>
                  <a:srgbClr val="A5B4FC"/>
                </a:solidFill>
                <a:latin typeface="Courier New"/>
              </a:rPr>
              <a:t>5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  ·  REINFORCEMENT LEARNING  —  THE ENGINE THAT MAKES IT POWERFUL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brain learns from every outcome. Autonomously.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7472" y="1792224"/>
            <a:ext cx="51389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ourier New"/>
              </a:rPr>
              <a:t>THE LEARNING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084831"/>
            <a:ext cx="5138928" cy="694944"/>
          </a:xfrm>
          <a:prstGeom prst="roundRect">
            <a:avLst>
              <a:gd name="adj" fmla="val 2000"/>
            </a:avLst>
          </a:prstGeom>
          <a:solidFill>
            <a:srgbClr val="0E102C"/>
          </a:solidFill>
          <a:ln w="889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2231135"/>
            <a:ext cx="384048" cy="384048"/>
          </a:xfrm>
          <a:prstGeom prst="roundRect">
            <a:avLst>
              <a:gd name="adj" fmla="val 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249423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30551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ourier New"/>
              </a:rPr>
              <a:t>SIGNAL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7"/>
            <a:ext cx="4462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A connector fires — deal closed, PR merged, GL transaction posted.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779775"/>
            <a:ext cx="274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6F1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834639"/>
            <a:ext cx="5138928" cy="694944"/>
          </a:xfrm>
          <a:prstGeom prst="roundRect">
            <a:avLst>
              <a:gd name="adj" fmla="val 2000"/>
            </a:avLst>
          </a:prstGeom>
          <a:solidFill>
            <a:srgbClr val="140C28"/>
          </a:solidFill>
          <a:ln w="889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" y="2980943"/>
            <a:ext cx="384048" cy="384048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999231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880359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CAUSAL GRAPH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145535"/>
            <a:ext cx="4462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Edge weights between domain pairs (X→Y) update in real-time.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3529583"/>
            <a:ext cx="274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5CF6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584447"/>
            <a:ext cx="5138928" cy="694944"/>
          </a:xfrm>
          <a:prstGeom prst="roundRect">
            <a:avLst>
              <a:gd name="adj" fmla="val 2000"/>
            </a:avLst>
          </a:prstGeom>
          <a:solidFill>
            <a:srgbClr val="051624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3730751"/>
            <a:ext cx="384048" cy="384048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3749039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630167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ourier New"/>
              </a:rPr>
              <a:t>METHOD SELECTION  (UCB1 Bandit)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95343"/>
            <a:ext cx="4462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Selects best method (Granger, VAR, DID, DO-calculus) — explore vs exploit.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279391"/>
            <a:ext cx="274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  <a:latin typeface="Calibr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334255"/>
            <a:ext cx="5138928" cy="694944"/>
          </a:xfrm>
          <a:prstGeom prst="roundRect">
            <a:avLst>
              <a:gd name="adj" fmla="val 2000"/>
            </a:avLst>
          </a:prstGeom>
          <a:solidFill>
            <a:srgbClr val="051812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" y="4480559"/>
            <a:ext cx="384048" cy="38404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4498847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379975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PREDICTION &amp;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645151"/>
            <a:ext cx="4462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Domain runs with brain context. Prediction recorded: 'If X → Y at Z% confidence'.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5029199"/>
            <a:ext cx="274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084063"/>
            <a:ext cx="5138928" cy="694944"/>
          </a:xfrm>
          <a:prstGeom prst="roundRect">
            <a:avLst>
              <a:gd name="adj" fmla="val 2000"/>
            </a:avLst>
          </a:prstGeom>
          <a:solidFill>
            <a:srgbClr val="1E1404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" y="5230367"/>
            <a:ext cx="384048" cy="384048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5248655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5129783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OUTCOME ORACLE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394959"/>
            <a:ext cx="4462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Automatically matches prediction to real outcomes. No human labelling.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2" y="5779007"/>
            <a:ext cx="2743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5833871"/>
            <a:ext cx="5138928" cy="694944"/>
          </a:xfrm>
          <a:prstGeom prst="roundRect">
            <a:avLst>
              <a:gd name="adj" fmla="val 2000"/>
            </a:avLst>
          </a:prstGeom>
          <a:solidFill>
            <a:srgbClr val="1E0A0A"/>
          </a:solidFill>
          <a:ln w="889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12" y="5980175"/>
            <a:ext cx="384048" cy="384048"/>
          </a:xfrm>
          <a:prstGeom prst="roundRect">
            <a:avLst>
              <a:gd name="adj" fmla="val 5000"/>
            </a:avLst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" y="5998463"/>
            <a:ext cx="3840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879591"/>
            <a:ext cx="4462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  <a:latin typeface="Courier New"/>
              </a:rPr>
              <a:t>REWARD &amp; WEIGHT 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6144767"/>
            <a:ext cx="4462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BACC"/>
                </a:solidFill>
                <a:latin typeface="Calibri"/>
              </a:rPr>
              <a:t>Bandit arm + DAG edge weights update. Brain learned. Next query is smarter.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8736" y="1792224"/>
            <a:ext cx="5952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ourier New"/>
              </a:rPr>
              <a:t>WHAT MAKES IT UNIQUELY POWERFUL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8736" y="2084831"/>
            <a:ext cx="5952744" cy="1389888"/>
          </a:xfrm>
          <a:prstGeom prst="roundRect">
            <a:avLst>
              <a:gd name="adj" fmla="val 2500"/>
            </a:avLst>
          </a:prstGeom>
          <a:solidFill>
            <a:srgbClr val="0E102C"/>
          </a:solidFill>
          <a:ln w="1016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88736" y="2084831"/>
            <a:ext cx="54864" cy="138988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16752" y="2432303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8816" y="2157983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A5B4FC"/>
                </a:solidFill>
                <a:latin typeface="Calibri"/>
              </a:rPr>
              <a:t>Federated Learning  (Privacy-Preserving)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2487167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Only effect-size deltas flow to the CORE brain — never raw data.
CORE += 0.3 × FedAvg(org deltas), clipped ±0.15, min 10 samples.
Org 1,000 benefits from Org 1's learnings without seeing their data.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8736" y="3566159"/>
            <a:ext cx="5952744" cy="1389888"/>
          </a:xfrm>
          <a:prstGeom prst="roundRect">
            <a:avLst>
              <a:gd name="adj" fmla="val 2500"/>
            </a:avLst>
          </a:prstGeom>
          <a:solidFill>
            <a:srgbClr val="051424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88736" y="3566159"/>
            <a:ext cx="54864" cy="1389888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16752" y="3913631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8816" y="3639311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7E8F9"/>
                </a:solidFill>
                <a:latin typeface="Calibri"/>
              </a:rPr>
              <a:t>Brain Sleep  (Consolidation Cycle)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3968495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Every 30 min: recomputes the full causal DAG, calibrates confidence
intervals, consolidates patterns into long-term memory — exactly
like human memory solidification during sleep. No other AI does this.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88736" y="5047487"/>
            <a:ext cx="5952744" cy="1389888"/>
          </a:xfrm>
          <a:prstGeom prst="roundRect">
            <a:avLst>
              <a:gd name="adj" fmla="val 2500"/>
            </a:avLst>
          </a:prstGeom>
          <a:solidFill>
            <a:srgbClr val="051812"/>
          </a:solidFill>
          <a:ln w="1016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888736" y="5047487"/>
            <a:ext cx="54864" cy="138988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16752" y="5394959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8816" y="5120639"/>
            <a:ext cx="5202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EE7B7"/>
                </a:solidFill>
                <a:latin typeface="Calibri"/>
              </a:rPr>
              <a:t>Autonomous Outcome Verification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49823"/>
            <a:ext cx="52029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The Outcome Oracle matches every prediction to real-world outcomes
by scanning subsequent signals. Always self-evaluating, always
improving — even when no one is watching.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US" sz="1600" b="1" i="0" dirty="0">
                <a:solidFill>
                  <a:srgbClr val="A5B4FC"/>
                </a:solidFill>
                <a:latin typeface="Courier New"/>
              </a:rPr>
              <a:t>5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b  ·  HOW EVERY EXECUTION TEACHES THE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Five channels fire on every single query.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70832" y="2724912"/>
            <a:ext cx="3401568" cy="896112"/>
          </a:xfrm>
          <a:prstGeom prst="roundRect">
            <a:avLst>
              <a:gd name="adj" fmla="val 3000"/>
            </a:avLst>
          </a:prstGeom>
          <a:solidFill>
            <a:srgbClr val="6366F1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70832" y="28163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⚡  Domain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0832" y="3200400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 dirty="0">
                <a:solidFill>
                  <a:srgbClr val="A5B4FC"/>
                </a:solidFill>
                <a:latin typeface="Calibri"/>
              </a:rPr>
              <a:t>(any SE-AAS or AAAS query</a:t>
            </a:r>
            <a:r>
              <a:rPr lang="en-US" sz="1050" b="0" i="1" dirty="0">
                <a:solidFill>
                  <a:srgbClr val="A5B4FC"/>
                </a:solidFill>
                <a:latin typeface="Calibri"/>
              </a:rPr>
              <a:t>, or any service </a:t>
            </a:r>
            <a:r>
              <a:rPr sz="1050" b="0" i="1" dirty="0">
                <a:solidFill>
                  <a:srgbClr val="A5B4FC"/>
                </a:solidFill>
                <a:latin typeface="Calibri"/>
              </a:rP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755648"/>
            <a:ext cx="2834640" cy="1188720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1016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📡  Signal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Emits a CrossDomainSignal
with domain, severity,
and entity context to the event bus.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401568"/>
            <a:ext cx="2834640" cy="1188720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1016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  <a:latin typeface="Calibri"/>
              </a:rPr>
              <a:t>🔮  Prediction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4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Records the intervention prediction:
'If this action → Y at Z% confidence'
for later autonomous verification.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755648"/>
            <a:ext cx="2834640" cy="1188720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1016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53728" y="1828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  <a:latin typeface="Calibri"/>
              </a:rPr>
              <a:t>🔄  Evolution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157984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Triggers DAG edge-weight updates,
recalibrating causal relationships
based on execution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401568"/>
            <a:ext cx="2834640" cy="1188720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1016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53728" y="3474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  <a:latin typeface="Calibri"/>
              </a:rPr>
              <a:t>📈  Observability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3803904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Logs timing, accuracy, token cost
and domain performance metrics
for brain health monitoring.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5047488"/>
            <a:ext cx="2834640" cy="1188720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1016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6008" y="5120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💡  Insight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5449824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Broadcasts cross-service insights —
e.g. AAAS patterns can inform
an SE-AAS incident diagnosis.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2267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3913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1936" y="2267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3913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224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6333604"/>
            <a:ext cx="11494008" cy="219456"/>
          </a:xfrm>
          <a:prstGeom prst="roundRect">
            <a:avLst>
              <a:gd name="adj" fmla="val 1500"/>
            </a:avLst>
          </a:prstGeom>
          <a:solidFill>
            <a:srgbClr val="0E1128"/>
          </a:solidFill>
          <a:ln w="889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6318504"/>
            <a:ext cx="112745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5B4FC"/>
                </a:solidFill>
                <a:latin typeface="Calibri"/>
              </a:rPr>
              <a:t>Post-execution:  ORG→CORE federated delta  ·  Only effect-size deltas, never raw data  ·  CORE brain gets smarter with every org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US" sz="1600" b="1" i="0" dirty="0">
                <a:solidFill>
                  <a:srgbClr val="A5B4FC"/>
                </a:solidFill>
                <a:latin typeface="Courier New"/>
              </a:rPr>
              <a:t>6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  ·  SERVICE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Every domain plugs into the brain.
New services add intelligence without changing the 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847088"/>
            <a:ext cx="6492240" cy="749808"/>
          </a:xfrm>
          <a:prstGeom prst="roundRect">
            <a:avLst>
              <a:gd name="adj" fmla="val 2000"/>
            </a:avLst>
          </a:prstGeom>
          <a:solidFill>
            <a:srgbClr val="061A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204825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SE-AAS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94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Software Engineering as a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33872" y="2048256"/>
            <a:ext cx="896112" cy="329184"/>
          </a:xfrm>
          <a:prstGeom prst="roundRect">
            <a:avLst>
              <a:gd name="adj" fmla="val 3000"/>
            </a:avLst>
          </a:prstGeom>
          <a:solidFill>
            <a:srgbClr val="061A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33872" y="2075688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ourier New"/>
              </a:rPr>
              <a:t>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688336"/>
            <a:ext cx="6492240" cy="749808"/>
          </a:xfrm>
          <a:prstGeom prst="roundRect">
            <a:avLst>
              <a:gd name="adj" fmla="val 2000"/>
            </a:avLst>
          </a:prstGeom>
          <a:solidFill>
            <a:srgbClr val="061A10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288950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43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B981"/>
                </a:solidFill>
                <a:latin typeface="Calibri"/>
              </a:rPr>
              <a:t>AAAS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Accounting &amp; Analytics as a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33872" y="2889504"/>
            <a:ext cx="896112" cy="329184"/>
          </a:xfrm>
          <a:prstGeom prst="roundRect">
            <a:avLst>
              <a:gd name="adj" fmla="val 3000"/>
            </a:avLst>
          </a:prstGeom>
          <a:solidFill>
            <a:srgbClr val="061A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2916936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ourier New"/>
              </a:rPr>
              <a:t>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529584"/>
            <a:ext cx="6492240" cy="749808"/>
          </a:xfrm>
          <a:prstGeom prst="roundRect">
            <a:avLst>
              <a:gd name="adj" fmla="val 2000"/>
            </a:avLst>
          </a:prstGeom>
          <a:solidFill>
            <a:srgbClr val="221806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373075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844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Calibri"/>
              </a:rPr>
              <a:t>HR-AAS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HR &amp; People Operations as a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33872" y="3730752"/>
            <a:ext cx="896112" cy="329184"/>
          </a:xfrm>
          <a:prstGeom prst="roundRect">
            <a:avLst>
              <a:gd name="adj" fmla="val 3000"/>
            </a:avLst>
          </a:prstGeom>
          <a:solidFill>
            <a:srgbClr val="221806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33872" y="3758184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ourier New"/>
              </a:rPr>
              <a:t>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370832"/>
            <a:ext cx="6492240" cy="749808"/>
          </a:xfrm>
          <a:prstGeom prst="roundRect">
            <a:avLst>
              <a:gd name="adj" fmla="val 2000"/>
            </a:avLst>
          </a:prstGeom>
          <a:solidFill>
            <a:srgbClr val="101228"/>
          </a:solidFill>
          <a:ln w="889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4572000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25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366F1"/>
                </a:solidFill>
                <a:latin typeface="Calibri"/>
              </a:rPr>
              <a:t>Sales-AAS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73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Revenue Operations as a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33872" y="4572000"/>
            <a:ext cx="896112" cy="329184"/>
          </a:xfrm>
          <a:prstGeom prst="roundRect">
            <a:avLst>
              <a:gd name="adj" fmla="val 3000"/>
            </a:avLst>
          </a:prstGeom>
          <a:solidFill>
            <a:srgbClr val="101228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33872" y="4599432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366F1"/>
                </a:solidFill>
                <a:latin typeface="Courier New"/>
              </a:rPr>
              <a:t>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5212080"/>
            <a:ext cx="6492240" cy="749808"/>
          </a:xfrm>
          <a:prstGeom prst="roundRect">
            <a:avLst>
              <a:gd name="adj" fmla="val 2000"/>
            </a:avLst>
          </a:prstGeom>
          <a:solidFill>
            <a:srgbClr val="061622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54132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66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6B6D4"/>
                </a:solidFill>
                <a:latin typeface="Calibri"/>
              </a:rPr>
              <a:t>3rd Party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144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Open marketplace for external providers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3872" y="5413248"/>
            <a:ext cx="896112" cy="329184"/>
          </a:xfrm>
          <a:prstGeom prst="roundRect">
            <a:avLst>
              <a:gd name="adj" fmla="val 3000"/>
            </a:avLst>
          </a:prstGeom>
          <a:solidFill>
            <a:srgbClr val="061622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33872" y="5440680"/>
            <a:ext cx="896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ourier New"/>
              </a:rPr>
              <a:t>VISION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0608" y="1792224"/>
            <a:ext cx="4681728" cy="2304288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889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78624" y="1865376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  <a:latin typeface="Courier New"/>
              </a:rPr>
              <a:t>BRAIN ROUTING INTELLIGENCE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8624" y="2157984"/>
            <a:ext cx="4462272" cy="493776"/>
          </a:xfrm>
          <a:prstGeom prst="roundRect">
            <a:avLst>
              <a:gd name="adj" fmla="val 2000"/>
            </a:avLst>
          </a:prstGeom>
          <a:solidFill>
            <a:srgbClr val="101228"/>
          </a:solidFill>
          <a:ln w="63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8352" y="22128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  <a:latin typeface="Calibri"/>
              </a:rPr>
              <a:t>⚡  Fast Query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22494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Cached · &lt;100ms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78624" y="2761488"/>
            <a:ext cx="4462272" cy="493776"/>
          </a:xfrm>
          <a:prstGeom prst="roundRect">
            <a:avLst>
              <a:gd name="adj" fmla="val 2000"/>
            </a:avLst>
          </a:prstGeom>
          <a:solidFill>
            <a:srgbClr val="101228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88352" y="28163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🧠  Action Domain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28529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Brain-augmented · 1–30s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8624" y="3364992"/>
            <a:ext cx="4462272" cy="493776"/>
          </a:xfrm>
          <a:prstGeom prst="roundRect">
            <a:avLst>
              <a:gd name="adj" fmla="val 2000"/>
            </a:avLst>
          </a:prstGeom>
          <a:solidFill>
            <a:srgbClr val="101228"/>
          </a:solidFill>
          <a:ln w="63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88352" y="3419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  <a:latin typeface="Calibri"/>
              </a:rPr>
              <a:t>🤖  Agent Orchestration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3456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Multi-step · 1–5m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224528"/>
            <a:ext cx="4681728" cy="2212848"/>
          </a:xfrm>
          <a:prstGeom prst="roundRect">
            <a:avLst>
              <a:gd name="adj" fmla="val 2500"/>
            </a:avLst>
          </a:prstGeom>
          <a:solidFill>
            <a:srgbClr val="061020"/>
          </a:solidFill>
          <a:ln w="889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278624" y="4297680"/>
            <a:ext cx="4480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7E8F9"/>
                </a:solidFill>
                <a:latin typeface="Courier New"/>
              </a:rPr>
              <a:t>28 ACTION DOMAINS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45902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forecast · simulate · diagnose · explain · compare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624" y="48646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monitor · optimize · recommend · audit · sentiment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513892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scenario-tree · risk-cascade · anomaly · bookkeeper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8624" y="541324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reconcile · calibrate · impact · incident · pr-review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8624" y="56875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architecture · pod-match · tax · data-lineage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8624" y="596188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  <a:latin typeface="Calibri"/>
              </a:rPr>
              <a:t>performance · dead-code · dependency · design-doc · codebase-qa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US" sz="1600" b="1" i="0" dirty="0">
                <a:solidFill>
                  <a:srgbClr val="A5B4FC"/>
                </a:solidFill>
                <a:latin typeface="Courier New"/>
              </a:rPr>
              <a:t>7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  ·  SE-AAS  —  SOFTWARE ENGINEERING AS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Brain-augmented engineering intelligence.
12 capabilities. Every one learns.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847088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956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901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Incident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94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Root-cause via causal 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3163824" y="1847088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55264" y="1956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1901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  <a:latin typeface="Calibri"/>
              </a:rPr>
              <a:t>Impact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194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Blast-radius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0176" y="1847088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71616" y="1956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01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PR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194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Org-context-aware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96528" y="1847088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1956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9019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  <a:latin typeface="Calibri"/>
              </a:rPr>
              <a:t>Architecture Extractor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94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System map from codebase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596896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270662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  <a:latin typeface="Calibri"/>
              </a:rPr>
              <a:t>Pod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2944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Team skill matching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63824" y="2596896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55264" y="270662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Design Doc 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94176" y="2944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Architecture docs in mins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0176" y="2596896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71616" y="270662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  <a:latin typeface="Calibri"/>
              </a:rPr>
              <a:t>Performance Profiler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2944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Bottleneck ID + patterns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96528" y="2596896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87968" y="2706624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Dead Code Detector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944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Unused code with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3346704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" y="34564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3401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  <a:latin typeface="Calibri"/>
              </a:rPr>
              <a:t>Dependency Upgrade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36941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Safe upgrades, risk-aware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3824" y="3346704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55264" y="34564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3401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  <a:latin typeface="Calibri"/>
              </a:rPr>
              <a:t>Test Data Generator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4176" y="36941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Realistic test datasets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80176" y="3346704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71616" y="34564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3401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5B4FC"/>
                </a:solidFill>
                <a:latin typeface="Calibri"/>
              </a:rPr>
              <a:t>SQL Analyser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0528" y="36941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Optimisation + risk detect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96528" y="3346704"/>
            <a:ext cx="2706624" cy="640080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87968" y="3456432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401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B5FD"/>
                </a:solidFill>
                <a:latin typeface="Calibri"/>
              </a:rPr>
              <a:t>Codebase QA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6941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Quality, org-specific rules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468172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ourier New"/>
              </a:rPr>
              <a:t>EXECUTION PIPELINE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2062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366F1"/>
                </a:solidFill>
                <a:latin typeface="Courier New"/>
              </a:rPr>
              <a:t>①  Snapshot weights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56232" y="506577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0195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97510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5CF6"/>
                </a:solidFill>
                <a:latin typeface="Courier New"/>
              </a:rPr>
              <a:t>②  CORE→ORG inject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10712" y="506577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5643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52958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B6D4"/>
                </a:solidFill>
                <a:latin typeface="Courier New"/>
              </a:rPr>
              <a:t>③  Brain Context Mesh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506577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1091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8406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ourier New"/>
              </a:rPr>
              <a:t>④  Claude + brain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9672" y="506577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6539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3854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ourier New"/>
              </a:rPr>
              <a:t>⑤  Save artifact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74152" y="506577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1987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19302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CA5A5"/>
                </a:solidFill>
                <a:latin typeface="Courier New"/>
              </a:rPr>
              <a:t>⑥  Feedback Bus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28632" y="506577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74352" y="4974336"/>
            <a:ext cx="1499616" cy="438912"/>
          </a:xfrm>
          <a:prstGeom prst="roundRect">
            <a:avLst>
              <a:gd name="adj" fmla="val 2000"/>
            </a:avLst>
          </a:prstGeom>
          <a:solidFill>
            <a:srgbClr val="0D1222"/>
          </a:solidFill>
          <a:ln w="762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747504" y="5029200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5B4FC"/>
                </a:solidFill>
                <a:latin typeface="Courier New"/>
              </a:rPr>
              <a:t>⑦  ORG→CORE delta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7472" y="5559552"/>
            <a:ext cx="5632704" cy="603504"/>
          </a:xfrm>
          <a:prstGeom prst="roundRect">
            <a:avLst>
              <a:gd name="adj" fmla="val 2000"/>
            </a:avLst>
          </a:prstGeom>
          <a:solidFill>
            <a:srgbClr val="0E1028"/>
          </a:solidFill>
          <a:ln w="889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5488" y="5650992"/>
            <a:ext cx="5431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  <a:latin typeface="Calibri"/>
              </a:rPr>
              <a:t>🔧  Brain Context Mesh  —  causal edges · org patterns · business rules · entity links · code dependency graph · LEAP reasoning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9904" y="5559552"/>
            <a:ext cx="5751576" cy="603504"/>
          </a:xfrm>
          <a:prstGeom prst="roundRect">
            <a:avLst>
              <a:gd name="adj" fmla="val 2000"/>
            </a:avLst>
          </a:prstGeom>
          <a:solidFill>
            <a:srgbClr val="061812"/>
          </a:solidFill>
          <a:ln w="889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17920" y="5650992"/>
            <a:ext cx="55504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EE7B7"/>
                </a:solidFill>
                <a:latin typeface="Calibri"/>
              </a:rPr>
              <a:t>💰  3–5h saved per PR review  ·  60% faster incident resolution  ·  Architecture docs in minutes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US" sz="1600" b="1" i="0" dirty="0">
                <a:solidFill>
                  <a:srgbClr val="A5B4FC"/>
                </a:solidFill>
                <a:latin typeface="Courier New"/>
              </a:rPr>
              <a:t>8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  ·  AAAS  —  ACCOUNTING &amp; ANALYTICS AS A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Seven brain-augmented accounting agents.
Every transaction understood, not just recorded.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847088"/>
            <a:ext cx="5655564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93852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49971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Brain Bookkeeper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9971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Categorise GL accounts + journal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12764" y="1847088"/>
            <a:ext cx="5655564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4204" y="193852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9692" y="1901952"/>
            <a:ext cx="49971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Brain Reconciler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9692" y="2212848"/>
            <a:ext cx="49971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Month-end account reconciliation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578608"/>
            <a:ext cx="5655564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67004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49971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Brain Statement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49971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P&amp;L, Balance Sheet, Cash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2764" y="2578608"/>
            <a:ext cx="5655564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4204" y="267004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9692" y="2633472"/>
            <a:ext cx="49971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Brain Tax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9692" y="2944368"/>
            <a:ext cx="49971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GST / tax computation  (SG · IRAS · SFRS)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310128"/>
            <a:ext cx="5655564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40156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64992"/>
            <a:ext cx="49971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  <a:latin typeface="Calibri"/>
              </a:rPr>
              <a:t>Brain Audit Preparer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75888"/>
            <a:ext cx="49971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Audit readiness + workpapers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764" y="3310128"/>
            <a:ext cx="5655564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4204" y="340156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9692" y="3364992"/>
            <a:ext cx="49971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D34D"/>
                </a:solidFill>
                <a:latin typeface="Calibri"/>
              </a:rPr>
              <a:t>Brain Anomaly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9692" y="3675888"/>
            <a:ext cx="49971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Benford's Law · vendor concentration · duplicates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4041648"/>
            <a:ext cx="11494008" cy="658368"/>
          </a:xfrm>
          <a:prstGeom prst="roundRect">
            <a:avLst>
              <a:gd name="adj" fmla="val 2000"/>
            </a:avLst>
          </a:prstGeom>
          <a:solidFill>
            <a:srgbClr val="061612"/>
          </a:solidFill>
          <a:ln w="762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4133088"/>
            <a:ext cx="4023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96512"/>
            <a:ext cx="10835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7E8F9"/>
                </a:solidFill>
                <a:latin typeface="Calibri"/>
              </a:rPr>
              <a:t>Brain Causal Accountant V9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07408"/>
            <a:ext cx="10835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WHY did P&amp;L move — not just WHAT it did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4901184"/>
            <a:ext cx="6601968" cy="1481328"/>
          </a:xfrm>
          <a:prstGeom prst="roundRect">
            <a:avLst>
              <a:gd name="adj" fmla="val 2500"/>
            </a:avLst>
          </a:prstGeom>
          <a:solidFill>
            <a:srgbClr val="051410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97433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E7B7"/>
                </a:solidFill>
                <a:latin typeface="Calibri"/>
              </a:rPr>
              <a:t>🔑  Transaction Narrative  —  every transaction explained in plain English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5285232"/>
            <a:ext cx="6400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7F3D0"/>
                </a:solidFill>
                <a:latin typeface="Courier New"/>
              </a:rPr>
              <a:t>"Recurring software license revenue of SGD 50,000 — core ARR contribution.
Ref: INV-2024-001. Check deferred revenue schedule if multi-period."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8" y="4901184"/>
            <a:ext cx="4782312" cy="1481328"/>
          </a:xfrm>
          <a:prstGeom prst="roundRect">
            <a:avLst>
              <a:gd name="adj" fmla="val 2500"/>
            </a:avLst>
          </a:prstGeom>
          <a:solidFill>
            <a:srgbClr val="181406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87184" y="4974336"/>
            <a:ext cx="4581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CD34D"/>
                </a:solidFill>
                <a:latin typeface="Calibri"/>
              </a:rPr>
              <a:t>💰  Business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5303520"/>
            <a:ext cx="4581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B0BACC"/>
                </a:solidFill>
                <a:latin typeface="Calibri"/>
              </a:rPr>
              <a:t>✓  Replaces 8–12 accountant hours / month-end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0BACC"/>
                </a:solidFill>
                <a:latin typeface="Calibri"/>
              </a:rPr>
              <a:t>✓  Catches anomalies no human would spot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0BACC"/>
                </a:solidFill>
                <a:latin typeface="Calibri"/>
              </a:rPr>
              <a:t>✓  Real-time SSE streaming with brain metadata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B0BACC"/>
                </a:solidFill>
                <a:latin typeface="Calibri"/>
              </a:rPr>
              <a:t>✓  Design partner: Tookitaki (AML / compliance)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472" y="292608"/>
            <a:ext cx="114940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A5B4FC"/>
                </a:solidFill>
                <a:latin typeface="Courier New"/>
              </a:rPr>
              <a:t>0</a:t>
            </a:r>
            <a:r>
              <a:rPr lang="en-US" sz="1600" b="1" i="0" dirty="0">
                <a:solidFill>
                  <a:srgbClr val="A5B4FC"/>
                </a:solidFill>
                <a:latin typeface="Courier New"/>
              </a:rPr>
              <a:t>9</a:t>
            </a:r>
            <a:r>
              <a:rPr sz="1600" b="1" i="0" dirty="0">
                <a:solidFill>
                  <a:srgbClr val="A5B4FC"/>
                </a:solidFill>
                <a:latin typeface="Courier New"/>
              </a:rPr>
              <a:t>  ·  ENGINEERING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4940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Built on world-class, production-grade foundations.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627632"/>
            <a:ext cx="658368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" y="1810512"/>
            <a:ext cx="3639312" cy="3401568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889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810512"/>
            <a:ext cx="3639312" cy="347472"/>
          </a:xfrm>
          <a:prstGeom prst="roundRect">
            <a:avLst>
              <a:gd name="adj" fmla="val 2500"/>
            </a:avLst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86537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LLM &amp;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28600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Calibri"/>
              </a:rPr>
              <a:t>🤖  Claude (Anthropic)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42032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Primary reasoning +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1635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Calibri"/>
              </a:rPr>
              <a:t>🔤  OpenAI text-embedding-3-small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72384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384-dim semantic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346704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Calibri"/>
              </a:rPr>
              <a:t>🔀  Multi-model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02736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Fast / deep / premium tiers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87705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Calibri"/>
              </a:rPr>
              <a:t>🧮  UCB1 bandit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133088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Causal method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407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Calibri"/>
              </a:rPr>
              <a:t>🔬  6 autonomous RL loops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663440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Always learning, no human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46804" y="1810512"/>
            <a:ext cx="3639312" cy="3401568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889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46804" y="1810512"/>
            <a:ext cx="3639312" cy="347472"/>
          </a:xfrm>
          <a:prstGeom prst="roundRect">
            <a:avLst>
              <a:gd name="adj" fmla="val 2500"/>
            </a:avLst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4820" y="186537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&amp;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4820" y="228600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7E8F9"/>
                </a:solidFill>
                <a:latin typeface="Calibri"/>
              </a:rPr>
              <a:t>🗄️  Supabase (PostgreSQL)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4820" y="2542032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Row-level security throughout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4820" y="281635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7E8F9"/>
                </a:solidFill>
                <a:latin typeface="Calibri"/>
              </a:rPr>
              <a:t>📦  AWS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4820" y="3072384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Artifact + model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4820" y="3346704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7E8F9"/>
                </a:solidFill>
                <a:latin typeface="Calibri"/>
              </a:rPr>
              <a:t>⚡  SSE streaming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4820" y="3602736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Real-time result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4820" y="387705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7E8F9"/>
                </a:solidFill>
                <a:latin typeface="Calibri"/>
              </a:rPr>
              <a:t>🔒  End-to-end encryption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4820" y="4133088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Privacy-first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4820" y="4407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7E8F9"/>
                </a:solidFill>
                <a:latin typeface="Calibri"/>
              </a:rPr>
              <a:t>🌐  Edge-ready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4820" y="4663440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Low-latency global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46136" y="1810512"/>
            <a:ext cx="3639312" cy="3401568"/>
          </a:xfrm>
          <a:prstGeom prst="roundRect">
            <a:avLst>
              <a:gd name="adj" fmla="val 2500"/>
            </a:avLst>
          </a:prstGeom>
          <a:solidFill>
            <a:srgbClr val="0D1222"/>
          </a:solidFill>
          <a:ln w="889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46136" y="1810512"/>
            <a:ext cx="3639312" cy="347472"/>
          </a:xfrm>
          <a:prstGeom prst="roundRect">
            <a:avLst>
              <a:gd name="adj" fmla="val 2500"/>
            </a:avLst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74152" y="186537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Frontend &amp;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74152" y="2286000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E7B7"/>
                </a:solidFill>
                <a:latin typeface="Calibri"/>
              </a:rPr>
              <a:t>⚛️  Next.js 15 (React 19)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2" y="2542032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Full-stack TypeScript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281635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E7B7"/>
                </a:solidFill>
                <a:latin typeface="Calibri"/>
              </a:rPr>
              <a:t>🏗️  Turborepo monorepo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3072384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packages/ + platform/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3346704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E7B7"/>
                </a:solidFill>
                <a:latin typeface="Calibri"/>
              </a:rPr>
              <a:t>📡  REST + SSE APIs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602736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Sync and streaming 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4152" y="3877056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E7B7"/>
                </a:solidFill>
                <a:latin typeface="Calibri"/>
              </a:rPr>
              <a:t>🧪  Vitest + Playwright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2" y="4133088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Unit + e2e test coverage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4407408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E7B7"/>
                </a:solidFill>
                <a:latin typeface="Calibri"/>
              </a:rPr>
              <a:t>🎨  TailwindCSS + Radix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74152" y="4663440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Component library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376672"/>
            <a:ext cx="5394960" cy="658368"/>
          </a:xfrm>
          <a:prstGeom prst="roundRect">
            <a:avLst>
              <a:gd name="adj" fmla="val 2000"/>
            </a:avLst>
          </a:prstGeom>
          <a:solidFill>
            <a:srgbClr val="181404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5488" y="5449824"/>
            <a:ext cx="5193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D34D"/>
                </a:solidFill>
                <a:latin typeface="Courier New"/>
              </a:rPr>
              <a:t>CAUSAL METHODS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5669280"/>
            <a:ext cx="5193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Correlation  ·  Granger causality  ·  Multivariate VAR  ·  DO-calculus  ·  DID estimation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9592" y="5376672"/>
            <a:ext cx="5961888" cy="658368"/>
          </a:xfrm>
          <a:prstGeom prst="roundRect">
            <a:avLst>
              <a:gd name="adj" fmla="val 2000"/>
            </a:avLst>
          </a:prstGeom>
          <a:solidFill>
            <a:srgbClr val="0C1028"/>
          </a:solidFill>
          <a:ln w="762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98464" y="5449824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B5FD"/>
                </a:solidFill>
                <a:latin typeface="Courier New"/>
              </a:rPr>
              <a:t>CONNECTORS  (L1 INGESTION)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98464" y="5669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CC"/>
                </a:solidFill>
                <a:latin typeface="Calibri"/>
              </a:rPr>
              <a:t>GitHub  ·  Linear  ·  Jira  ·  HubSpot  ·  Stripe  ·  Xero  ·  Slack  ·  Google Workspace  ·  Zendesk  ·  Calendly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6163056"/>
            <a:ext cx="11494008" cy="310896"/>
          </a:xfrm>
          <a:prstGeom prst="roundRect">
            <a:avLst>
              <a:gd name="adj" fmla="val 1500"/>
            </a:avLst>
          </a:prstGeom>
          <a:solidFill>
            <a:srgbClr val="0E1128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5488" y="6217920"/>
            <a:ext cx="11292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5B4FC"/>
                </a:solidFill>
                <a:latin typeface="Calibri"/>
              </a:rPr>
              <a:t>🔒  Privacy &amp; Federation  —  Only effect-size deltas shared · FedAvg clip ±0.15 · min 10 samples gate · ORG data always wins conflicts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9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10332720" cy="5852160"/>
          </a:xfrm>
          <a:prstGeom prst="rect">
            <a:avLst/>
          </a:prstGeom>
          <a:solidFill>
            <a:srgbClr val="080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7472" y="475488"/>
            <a:ext cx="114940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389888"/>
            <a:ext cx="11494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  <a:latin typeface="Courier New"/>
              </a:rPr>
              <a:t>THE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55648"/>
            <a:ext cx="941832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FFFFF"/>
                </a:solidFill>
                <a:latin typeface="Calibri"/>
              </a:rPr>
              <a:t>"We are building the causal knowledge graph of how
organisations actually work — and it compounds with
every org, every signal, every service.
This is not a chatbot.
This is organisational memory with a feedback loop."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4315968"/>
            <a:ext cx="24688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A5B4FC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ourier New"/>
              </a:rPr>
              <a:t>Brain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0974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7E8F9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0974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ourier New"/>
              </a:rPr>
              <a:t>RL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EE7B7"/>
                </a:solidFill>
                <a:latin typeface="Calibri"/>
              </a:rP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ourier New"/>
              </a:rPr>
              <a:t>Action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7978" y="4480560"/>
            <a:ext cx="287350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CD34D"/>
                </a:solidFill>
                <a:latin typeface="Calibri"/>
              </a:rPr>
              <a:t>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7978" y="5010912"/>
            <a:ext cx="287350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ourier New"/>
              </a:rPr>
              <a:t>Compounding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5522976"/>
            <a:ext cx="1149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nexusbrain.ai  ·  Confidential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6601968"/>
            <a:ext cx="11494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Confidential  ·  NexusBrain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1750</Words>
  <Application>Microsoft Macintosh PowerPoint</Application>
  <PresentationFormat>Custom</PresentationFormat>
  <Paragraphs>316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Chatterjee</cp:lastModifiedBy>
  <cp:revision>9</cp:revision>
  <dcterms:created xsi:type="dcterms:W3CDTF">2013-01-27T09:14:16Z</dcterms:created>
  <dcterms:modified xsi:type="dcterms:W3CDTF">2026-02-19T06:48:08Z</dcterms:modified>
  <cp:category/>
</cp:coreProperties>
</file>